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1 — Contraste entre la administración anterior en hojas de cálculo separadas y la Plataforma Integral de Planificación (PIP-GAMS). Cifras verificadas al 16 de agosto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2 — SIS-PE. Funcionalidades implementadas del subsistema de planificación estratégica y lo que continúa en desarrollo.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3 — SIS-POA. Flujo maestro de 12 pasos y funcionalidades implementadas del subsistema operativo.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slides/assets/logo-sacaba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33531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9615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Planificación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44607" y="384048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E3F2E9"/>
          </a:solidFill>
          <a:ln w="9525">
            <a:solidFill>
              <a:srgbClr val="C6E0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44607" y="384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PIP-GAMS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896112"/>
            <a:ext cx="11277295" cy="20117"/>
          </a:xfrm>
          <a:prstGeom prst="rect">
            <a:avLst/>
          </a:prstGeom>
          <a:solidFill>
            <a:srgbClr val="DEE7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29284"/>
            <a:ext cx="118872" cy="118872"/>
          </a:xfrm>
          <a:prstGeom prst="diamond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060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70" kern="0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 · GESTIÓN 2026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316736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planillas dispersas a una sola plataforma institucional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planificación municipal se administraba en hojas de cálculo separadas por unidad, sin vínculo entre el plan estratégico, el POA y el presupuesto. Hoy los tres momentos viven en un mismo sistema, sobre una única base de datos institucional.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5349240" cy="3054096"/>
          </a:xfrm>
          <a:prstGeom prst="roundRect">
            <a:avLst>
              <a:gd name="adj" fmla="val 2994"/>
            </a:avLst>
          </a:prstGeom>
          <a:solidFill>
            <a:srgbClr val="EFEDE7"/>
          </a:solidFill>
          <a:ln w="12700">
            <a:solidFill>
              <a:srgbClr val="DED9C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" y="2651760"/>
            <a:ext cx="786384" cy="237744"/>
          </a:xfrm>
          <a:prstGeom prst="roundRect">
            <a:avLst>
              <a:gd name="adj" fmla="val 19231"/>
            </a:avLst>
          </a:prstGeom>
          <a:solidFill>
            <a:srgbClr val="DDD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40" kern="0" dirty="0">
                <a:solidFill>
                  <a:srgbClr val="7A6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94944" y="2962656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54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Hojas de cálculo segregadas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713232" y="331012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3101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969264" y="327355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planilla por unidad: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una fuente única de verdad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cada área maneja su propia copia.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13232" y="367588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3675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69264" y="363931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PAD/PEI, POA y presupuesto en archivos distintos: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lo estratégico y lo operativo.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13232" y="404164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3232" y="40416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969264" y="400507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Techos y asignaciones validados a mano: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error se detecta tarde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ya consolidado.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713232" y="440740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3232" y="44074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969264" y="437083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control de versiones ni sello de aprobación: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aprobado se puede alterar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sin dejar rastro.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13232" y="47731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69264" y="473659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roles ni permisos: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cualquiera con el enlace edita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cualquier celda.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713232" y="513892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D6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13232" y="51389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969264" y="510235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 y reportes rehechos manualmente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corte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B6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948172" y="3845052"/>
            <a:ext cx="301752" cy="301752"/>
          </a:xfrm>
          <a:prstGeom prst="ellipse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25400" dir="5400000">
              <a:srgbClr val="132019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5948172" y="3845052"/>
            <a:ext cx="301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6391656" y="2468880"/>
            <a:ext cx="5349240" cy="3054096"/>
          </a:xfrm>
          <a:prstGeom prst="roundRect">
            <a:avLst>
              <a:gd name="adj" fmla="val 2994"/>
            </a:avLst>
          </a:prstGeom>
          <a:solidFill>
            <a:srgbClr val="FFFFFF"/>
          </a:solidFill>
          <a:ln w="22225">
            <a:solidFill>
              <a:srgbClr val="007229"/>
            </a:solidFill>
            <a:prstDash val="solid"/>
          </a:ln>
          <a:effectLst>
            <a:outerShdw sx="100000" sy="100000" kx="0" ky="0" algn="bl" rotWithShape="0" blurRad="177800" dist="25400" dir="5400000">
              <a:srgbClr val="132019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629400" y="2651760"/>
            <a:ext cx="1481328" cy="237744"/>
          </a:xfrm>
          <a:prstGeom prst="roundRect">
            <a:avLst>
              <a:gd name="adj" fmla="val 19231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29400" y="26517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· PIP-GAMS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629400" y="2962656"/>
            <a:ext cx="4873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sistema, una base de datos, una cadena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6647688" y="331012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47688" y="33101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903720" y="327355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institucional única (PostgreSQL + PostGIS):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222 tablas en 9 esquemas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dominio.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6647688" y="367588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47688" y="367588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03720" y="363931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continua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PGDESA → PDESA → PAD → PEI → POA → POAU → Actividad → Tarea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codificación oficial automática.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647688" y="404164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47688" y="404164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6903720" y="400507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contra el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presupuestario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el momento de programar.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6647688" y="440740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647688" y="440740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903720" y="437083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inmutables selladas con checksum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 aprobado no se modifica, se versiona.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6647688" y="477316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647688" y="477316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6903720" y="473659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 y capacidad (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capacidades, 12 roles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y auditoría de cada evento.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6647688" y="5138928"/>
            <a:ext cx="173736" cy="173736"/>
          </a:xfrm>
          <a:prstGeom prst="roundRect">
            <a:avLst>
              <a:gd name="adj" fmla="val 23684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647688" y="5138928"/>
            <a:ext cx="17373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903720" y="5102352"/>
            <a:ext cx="4581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aprobación y reportes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generados por el sistema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armados a mano.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57200" y="5614416"/>
            <a:ext cx="215304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03504" y="5705856"/>
            <a:ext cx="1860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59" name="Text 56"/>
          <p:cNvSpPr/>
          <p:nvPr/>
        </p:nvSpPr>
        <p:spPr>
          <a:xfrm>
            <a:off x="603504" y="5925312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Subsistemas articulados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SIS-PE · SIS-POA · SIS-PRO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2738262" y="5614416"/>
            <a:ext cx="215304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2884566" y="5705856"/>
            <a:ext cx="1860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</a:t>
            </a:r>
            <a:endParaRPr lang="en-US" sz="1700" dirty="0"/>
          </a:p>
        </p:txBody>
      </p:sp>
      <p:sp>
        <p:nvSpPr>
          <p:cNvPr id="62" name="Text 59"/>
          <p:cNvSpPr/>
          <p:nvPr/>
        </p:nvSpPr>
        <p:spPr>
          <a:xfrm>
            <a:off x="2884566" y="5925312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de dominio migradas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9 esquemas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5019324" y="5614416"/>
            <a:ext cx="215304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165628" y="5705856"/>
            <a:ext cx="1860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604</a:t>
            </a:r>
            <a:endParaRPr lang="en-US" sz="1700" dirty="0"/>
          </a:p>
        </p:txBody>
      </p:sp>
      <p:sp>
        <p:nvSpPr>
          <p:cNvPr id="65" name="Text 62"/>
          <p:cNvSpPr/>
          <p:nvPr/>
        </p:nvSpPr>
        <p:spPr>
          <a:xfrm>
            <a:off x="5165628" y="5925312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Nodos de planificación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estratégica cargados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7300387" y="5614416"/>
            <a:ext cx="215304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446691" y="5705856"/>
            <a:ext cx="1860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700" dirty="0"/>
          </a:p>
        </p:txBody>
      </p:sp>
      <p:sp>
        <p:nvSpPr>
          <p:cNvPr id="68" name="Text 65"/>
          <p:cNvSpPr/>
          <p:nvPr/>
        </p:nvSpPr>
        <p:spPr>
          <a:xfrm>
            <a:off x="7446691" y="5925312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 con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territorialización GIS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>
            <a:off x="9581449" y="5614416"/>
            <a:ext cx="2153046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727753" y="5705856"/>
            <a:ext cx="18604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4E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1.504</a:t>
            </a:r>
            <a:endParaRPr lang="en-US" sz="1700" dirty="0"/>
          </a:p>
        </p:txBody>
      </p:sp>
      <p:sp>
        <p:nvSpPr>
          <p:cNvPr id="71" name="Text 68"/>
          <p:cNvSpPr/>
          <p:nvPr/>
        </p:nvSpPr>
        <p:spPr>
          <a:xfrm>
            <a:off x="9727753" y="5925312"/>
            <a:ext cx="18970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automáticas</a:t>
            </a:r>
            <a:endParaRPr lang="en-US" sz="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verde (backend + web)</a:t>
            </a:r>
            <a:endParaRPr lang="en-US" sz="800" dirty="0"/>
          </a:p>
        </p:txBody>
      </p:sp>
      <p:sp>
        <p:nvSpPr>
          <p:cNvPr id="72" name="Text 69"/>
          <p:cNvSpPr/>
          <p:nvPr/>
        </p:nvSpPr>
        <p:spPr>
          <a:xfrm>
            <a:off x="45720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Autónomo Municipal de Sacaba · Plataforma Integral de Planificación (PIP-GAMS)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8076895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ORDEN CON RESULTADOS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slides/assets/logo-sacaba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33531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9615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Planificación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44607" y="384048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DCEEFF"/>
          </a:solidFill>
          <a:ln w="9525">
            <a:solidFill>
              <a:srgbClr val="B9D7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44607" y="384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SIS-PE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896112"/>
            <a:ext cx="11277295" cy="20117"/>
          </a:xfrm>
          <a:prstGeom prst="rect">
            <a:avLst/>
          </a:prstGeom>
          <a:solidFill>
            <a:srgbClr val="DEE7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29284"/>
            <a:ext cx="118872" cy="118872"/>
          </a:xfrm>
          <a:prstGeom prst="diamond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060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70" kern="0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1 · FUNCIONALIDADES IMPLEMENTADAS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316736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SIS-PE — Planificación Estratégica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los instrumentos de largo y mediano plazo del municipio como objetos versionados y articulados entre sí. Es la fuente de verdad que alimenta al POA: el operativo ya no se formula sobre un archivo aparte, sino sobre la versión estratégica aprobada.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207989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2514600"/>
            <a:ext cx="36576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2551176"/>
            <a:ext cx="1823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PGDESA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3504" y="2743200"/>
            <a:ext cx="1842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ejes de desarrollo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537094" y="248716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756550" y="2487168"/>
            <a:ext cx="207989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56550" y="2514600"/>
            <a:ext cx="36576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902854" y="2551176"/>
            <a:ext cx="1823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PDESA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02854" y="2743200"/>
            <a:ext cx="1842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componentes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36444" y="248716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055900" y="2487168"/>
            <a:ext cx="207989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55900" y="2514600"/>
            <a:ext cx="36576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02204" y="2551176"/>
            <a:ext cx="1823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202204" y="2743200"/>
            <a:ext cx="1842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lineamientos · matriz completa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135795" y="248716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355251" y="2487168"/>
            <a:ext cx="207989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55251" y="2514600"/>
            <a:ext cx="36576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01555" y="2551176"/>
            <a:ext cx="1823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PEI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501555" y="2743200"/>
            <a:ext cx="1842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→ Resultado → Producto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9435145" y="2487168"/>
            <a:ext cx="219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C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9654601" y="2487168"/>
            <a:ext cx="2079894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654601" y="2514600"/>
            <a:ext cx="36576" cy="457200"/>
          </a:xfrm>
          <a:prstGeom prst="rect">
            <a:avLst/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800905" y="2551176"/>
            <a:ext cx="182386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" kern="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800905" y="2743200"/>
            <a:ext cx="1842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 subsistema operativo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12648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648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941832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único de instrumentos</a:t>
            </a:r>
            <a:endParaRPr lang="en-US" sz="1250" dirty="0"/>
          </a:p>
        </p:txBody>
      </p:sp>
      <p:sp>
        <p:nvSpPr>
          <p:cNvPr id="39" name="Text 36"/>
          <p:cNvSpPr/>
          <p:nvPr/>
        </p:nvSpPr>
        <p:spPr>
          <a:xfrm>
            <a:off x="630936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PGDESA, PDESA, PAD y PEI se administran como instrumentos del mismo núcleo, cada uno con sus versiones. Se acabaron los archivos paralelos por instrumento.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30936" y="4160520"/>
            <a:ext cx="892454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30936" y="4160520"/>
            <a:ext cx="8924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instrumentos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1587398" y="4160520"/>
            <a:ext cx="892454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587398" y="4160520"/>
            <a:ext cx="8924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metodologías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4265066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420514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420514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4749698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Versiones inmutables y selladas</a:t>
            </a:r>
            <a:endParaRPr lang="en-US" sz="1250" dirty="0"/>
          </a:p>
        </p:txBody>
      </p:sp>
      <p:sp>
        <p:nvSpPr>
          <p:cNvPr id="48" name="Text 45"/>
          <p:cNvSpPr/>
          <p:nvPr/>
        </p:nvSpPr>
        <p:spPr>
          <a:xfrm>
            <a:off x="4438802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aprobada queda cerrada con un sello digital (checksum SHA-256). Lo aprobado no se puede alterar: los cambios generan una nueva versión trazable.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438802" y="4160520"/>
            <a:ext cx="1141171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438802" y="4160520"/>
            <a:ext cx="114117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checksum SHA-256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5643982" y="4160520"/>
            <a:ext cx="705917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43982" y="4160520"/>
            <a:ext cx="70591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historial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8072933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228381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228381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8557565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Constructor guiado del PAD</a:t>
            </a:r>
            <a:endParaRPr lang="en-US" sz="1250" dirty="0"/>
          </a:p>
        </p:txBody>
      </p:sp>
      <p:sp>
        <p:nvSpPr>
          <p:cNvPr id="57" name="Text 54"/>
          <p:cNvSpPr/>
          <p:nvPr/>
        </p:nvSpPr>
        <p:spPr>
          <a:xfrm>
            <a:off x="8246669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por pasos para armar la matriz Política → Lineamiento → Resultado → Producto, con validación de estructura y guardado en borrador antes de materializar.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8246669" y="4160520"/>
            <a:ext cx="892454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246669" y="4160520"/>
            <a:ext cx="89245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matrices PAD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9203131" y="4160520"/>
            <a:ext cx="1265530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9203131" y="4160520"/>
            <a:ext cx="126553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borrador → oficial</a:t>
            </a:r>
            <a:endParaRPr lang="en-US" sz="750" dirty="0"/>
          </a:p>
        </p:txBody>
      </p:sp>
      <p:sp>
        <p:nvSpPr>
          <p:cNvPr id="62" name="Shape 59"/>
          <p:cNvSpPr/>
          <p:nvPr/>
        </p:nvSpPr>
        <p:spPr>
          <a:xfrm>
            <a:off x="457200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612648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612648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65" name="Text 62"/>
          <p:cNvSpPr/>
          <p:nvPr/>
        </p:nvSpPr>
        <p:spPr>
          <a:xfrm>
            <a:off x="941832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Codificación oficial automática</a:t>
            </a:r>
            <a:endParaRPr lang="en-US" sz="1250" dirty="0"/>
          </a:p>
        </p:txBody>
      </p:sp>
      <p:sp>
        <p:nvSpPr>
          <p:cNvPr id="66" name="Text 63"/>
          <p:cNvSpPr/>
          <p:nvPr/>
        </p:nvSpPr>
        <p:spPr>
          <a:xfrm>
            <a:off x="630936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genera el código segmentado normativo de cada elemento de la cadena. Elimina la codificación manual y las inconsistencias entre planillas de distintas unidades.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30936" y="5550408"/>
            <a:ext cx="1203350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630936" y="5550408"/>
            <a:ext cx="12033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código segmentado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1898294" y="5550408"/>
            <a:ext cx="1452067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1898294" y="5550408"/>
            <a:ext cx="145206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catálogos versionados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4265066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4420514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4420514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4749698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2026–2035 y compromisos</a:t>
            </a:r>
            <a:endParaRPr lang="en-US" sz="1250" dirty="0"/>
          </a:p>
        </p:txBody>
      </p:sp>
      <p:sp>
        <p:nvSpPr>
          <p:cNvPr id="75" name="Text 72"/>
          <p:cNvSpPr/>
          <p:nvPr/>
        </p:nvSpPr>
        <p:spPr>
          <a:xfrm>
            <a:off x="4438802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Catálogos oficiales cargados y versionados: 21 ejes, 49 componentes, 25 sectores económicos, 170 lineamientos y 57 acuerdos internacionales (ODS, NDT, 30×30).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438802" y="5550408"/>
            <a:ext cx="1203350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4438802" y="5550408"/>
            <a:ext cx="12033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ODS / NDT / 30x30</a:t>
            </a:r>
            <a:endParaRPr lang="en-US" sz="750" dirty="0"/>
          </a:p>
        </p:txBody>
      </p:sp>
      <p:sp>
        <p:nvSpPr>
          <p:cNvPr id="78" name="Shape 75"/>
          <p:cNvSpPr/>
          <p:nvPr/>
        </p:nvSpPr>
        <p:spPr>
          <a:xfrm>
            <a:off x="5706161" y="5550408"/>
            <a:ext cx="830275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706161" y="5550408"/>
            <a:ext cx="83027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versiones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8072933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8228381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F4C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8228381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557565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Territorio, evaluación y portal</a:t>
            </a:r>
            <a:endParaRPr lang="en-US" sz="1250" dirty="0"/>
          </a:p>
        </p:txBody>
      </p:sp>
      <p:sp>
        <p:nvSpPr>
          <p:cNvPr id="84" name="Text 81"/>
          <p:cNvSpPr/>
          <p:nvPr/>
        </p:nvSpPr>
        <p:spPr>
          <a:xfrm>
            <a:off x="8246669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Localización de resultados sobre los 12 distritos con soporte GIS, módulo de evaluación con lecciones aprendidas y recomendaciones, y portal público de consulta ciudadana.</a:t>
            </a:r>
            <a:endParaRPr lang="en-US" sz="950" dirty="0"/>
          </a:p>
        </p:txBody>
      </p:sp>
      <p:sp>
        <p:nvSpPr>
          <p:cNvPr id="85" name="Shape 82"/>
          <p:cNvSpPr/>
          <p:nvPr/>
        </p:nvSpPr>
        <p:spPr>
          <a:xfrm>
            <a:off x="8246669" y="5550408"/>
            <a:ext cx="581558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8246669" y="5550408"/>
            <a:ext cx="58155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PostGIS</a:t>
            </a:r>
            <a:endParaRPr lang="en-US" sz="750" dirty="0"/>
          </a:p>
        </p:txBody>
      </p:sp>
      <p:sp>
        <p:nvSpPr>
          <p:cNvPr id="87" name="Shape 84"/>
          <p:cNvSpPr/>
          <p:nvPr/>
        </p:nvSpPr>
        <p:spPr>
          <a:xfrm>
            <a:off x="8892235" y="5550408"/>
            <a:ext cx="768096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8892235" y="5550408"/>
            <a:ext cx="7680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evaluación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9724339" y="5550408"/>
            <a:ext cx="1016813" cy="192024"/>
          </a:xfrm>
          <a:prstGeom prst="roundRect">
            <a:avLst>
              <a:gd name="adj" fmla="val 19048"/>
            </a:avLst>
          </a:prstGeom>
          <a:solidFill>
            <a:srgbClr val="DCE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9724339" y="5550408"/>
            <a:ext cx="101681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F4C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portal público</a:t>
            </a:r>
            <a:endParaRPr lang="en-US" sz="750" dirty="0"/>
          </a:p>
        </p:txBody>
      </p:sp>
      <p:sp>
        <p:nvSpPr>
          <p:cNvPr id="91" name="Shape 88"/>
          <p:cNvSpPr/>
          <p:nvPr/>
        </p:nvSpPr>
        <p:spPr>
          <a:xfrm>
            <a:off x="457200" y="5925312"/>
            <a:ext cx="11277295" cy="347472"/>
          </a:xfrm>
          <a:prstGeom prst="roundRect">
            <a:avLst>
              <a:gd name="adj" fmla="val 13158"/>
            </a:avLst>
          </a:prstGeom>
          <a:solidFill>
            <a:srgbClr val="F5EAD2"/>
          </a:solidFill>
          <a:ln w="9525">
            <a:solidFill>
              <a:srgbClr val="E8D6AE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457200" y="5961888"/>
            <a:ext cx="41148" cy="274320"/>
          </a:xfrm>
          <a:prstGeom prst="rect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658368" y="5925312"/>
            <a:ext cx="108749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b="1" dirty="0">
                <a:solidFill>
                  <a:srgbClr val="6E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desarrollo:</a:t>
            </a:r>
            <a:pPr indent="0" marL="0">
              <a:buNone/>
            </a:pPr>
            <a:r>
              <a:rPr lang="en-US" sz="950" dirty="0">
                <a:solidFill>
                  <a:srgbClr val="6E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asistente por pasos del PEI (la base de datos y los servicios ya están operativos), motor visual de articulación PAD → PEI y tableros de indicadores estratégicos.</a:t>
            </a:r>
            <a:endParaRPr lang="en-US" sz="950" dirty="0"/>
          </a:p>
        </p:txBody>
      </p:sp>
      <p:sp>
        <p:nvSpPr>
          <p:cNvPr id="94" name="Text 91"/>
          <p:cNvSpPr/>
          <p:nvPr/>
        </p:nvSpPr>
        <p:spPr>
          <a:xfrm>
            <a:off x="45720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Autónomo Municipal de Sacaba · Plataforma Integral de Planificación (PIP-GAMS)</a:t>
            </a:r>
            <a:endParaRPr lang="en-US" sz="900" dirty="0"/>
          </a:p>
        </p:txBody>
      </p:sp>
      <p:sp>
        <p:nvSpPr>
          <p:cNvPr id="95" name="Text 92"/>
          <p:cNvSpPr/>
          <p:nvPr/>
        </p:nvSpPr>
        <p:spPr>
          <a:xfrm>
            <a:off x="8076895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ORDEN CON RESULTADOS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slides/assets/logo-sacaba-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33531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9615" y="384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Integral de Planificación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0344607" y="384048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E3F2E9"/>
          </a:solidFill>
          <a:ln w="9525">
            <a:solidFill>
              <a:srgbClr val="C6E0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344607" y="384048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SIS-POA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896112"/>
            <a:ext cx="11277295" cy="20117"/>
          </a:xfrm>
          <a:prstGeom prst="rect">
            <a:avLst/>
          </a:prstGeom>
          <a:solidFill>
            <a:srgbClr val="DEE7E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29284"/>
            <a:ext cx="118872" cy="118872"/>
          </a:xfrm>
          <a:prstGeom prst="diamond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7512" y="10607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70" kern="0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2 · FUNCIONALIDADES IMPLEMENTADAS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1316736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SIS-POA — Planificación Operativa Anual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4A5B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Conduce el ciclo anual completo como un solo flujo transaccional: del techo presupuestario hasta el seguimiento y las modificaciones. Antes eran doce momentos en planillas distintas; hoy son doce pasos encadenados sobre los mismos datos.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E3F2E9"/>
          </a:solidFill>
          <a:ln w="9525">
            <a:solidFill>
              <a:srgbClr val="BEDCC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2597" y="2551176"/>
            <a:ext cx="182880" cy="182880"/>
          </a:xfrm>
          <a:prstGeom prst="ellipse">
            <a:avLst/>
          </a:prstGeom>
          <a:solidFill>
            <a:srgbClr val="034E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2597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75488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fiscal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1401166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E3F2E9"/>
          </a:solidFill>
          <a:ln w="9525">
            <a:solidFill>
              <a:srgbClr val="BEDCC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56562" y="2551176"/>
            <a:ext cx="182880" cy="182880"/>
          </a:xfrm>
          <a:prstGeom prst="ellipse">
            <a:avLst/>
          </a:prstGeom>
          <a:solidFill>
            <a:srgbClr val="034E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56562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419454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345131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E3F2E9"/>
          </a:solidFill>
          <a:ln w="9525">
            <a:solidFill>
              <a:srgbClr val="BEDCC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00528" y="2551176"/>
            <a:ext cx="182880" cy="182880"/>
          </a:xfrm>
          <a:prstGeom prst="ellipse">
            <a:avLst/>
          </a:prstGeom>
          <a:solidFill>
            <a:srgbClr val="034E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700528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2363419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289097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44494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44494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3307385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233062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88459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88459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251350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177028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32425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32425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5195316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120994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76390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76390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6139282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POAU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064959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7420356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0356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083247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POAU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8008925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364322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64322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027213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8952890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9308287" y="2551176"/>
            <a:ext cx="182880" cy="182880"/>
          </a:xfrm>
          <a:prstGeom prst="ellipse">
            <a:avLst/>
          </a:prstGeom>
          <a:solidFill>
            <a:srgbClr val="0986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308287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8971178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9896856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E3F2E9"/>
          </a:solidFill>
          <a:ln w="9525">
            <a:solidFill>
              <a:srgbClr val="BEDCC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252253" y="2551176"/>
            <a:ext cx="182880" cy="182880"/>
          </a:xfrm>
          <a:prstGeom prst="ellipse">
            <a:avLst/>
          </a:prstGeom>
          <a:solidFill>
            <a:srgbClr val="034E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252253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9915144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10840822" y="2487168"/>
            <a:ext cx="893674" cy="566928"/>
          </a:xfrm>
          <a:prstGeom prst="roundRect">
            <a:avLst>
              <a:gd name="adj" fmla="val 8065"/>
            </a:avLst>
          </a:prstGeom>
          <a:solidFill>
            <a:srgbClr val="E3F2E9"/>
          </a:solidFill>
          <a:ln w="9525">
            <a:solidFill>
              <a:srgbClr val="BEDCC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1196218" y="2551176"/>
            <a:ext cx="182880" cy="182880"/>
          </a:xfrm>
          <a:prstGeom prst="ellipse">
            <a:avLst/>
          </a:prstGeom>
          <a:solidFill>
            <a:srgbClr val="034E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1196218" y="25511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10859110" y="2752344"/>
            <a:ext cx="85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y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330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modificaciones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457200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612648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12648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941832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Techos con versión y respaldo</a:t>
            </a:r>
            <a:endParaRPr lang="en-US" sz="1250" dirty="0"/>
          </a:p>
        </p:txBody>
      </p:sp>
      <p:sp>
        <p:nvSpPr>
          <p:cNvPr id="63" name="Text 60"/>
          <p:cNvSpPr/>
          <p:nvPr/>
        </p:nvSpPr>
        <p:spPr>
          <a:xfrm>
            <a:off x="630936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Techo directivo por unidad con sus recursos y gastos obligatorios, versionado y aprobado mediante flujo formal con documento de respaldo. Sustituye el envío de planillas por correo.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630936" y="4160520"/>
            <a:ext cx="1078992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30936" y="416052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techo directivo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1773936" y="4160520"/>
            <a:ext cx="1327709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773936" y="4160520"/>
            <a:ext cx="132770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gastos obligatorios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4265066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4420514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420514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4749698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y asignación</a:t>
            </a:r>
            <a:endParaRPr lang="en-US" sz="1250" dirty="0"/>
          </a:p>
        </p:txBody>
      </p:sp>
      <p:sp>
        <p:nvSpPr>
          <p:cNvPr id="72" name="Text 69"/>
          <p:cNvSpPr/>
          <p:nvPr/>
        </p:nvSpPr>
        <p:spPr>
          <a:xfrm>
            <a:off x="4438802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del techo (institucional y territorial) y apertura programática con asignación por fuente de financiamiento y objeto de gasto, contra catálogos oficiales versionados.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4438802" y="4160520"/>
            <a:ext cx="1514246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438802" y="4160520"/>
            <a:ext cx="151424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categoría programática</a:t>
            </a:r>
            <a:endParaRPr lang="en-US" sz="750" dirty="0"/>
          </a:p>
        </p:txBody>
      </p:sp>
      <p:sp>
        <p:nvSpPr>
          <p:cNvPr id="75" name="Shape 72"/>
          <p:cNvSpPr/>
          <p:nvPr/>
        </p:nvSpPr>
        <p:spPr>
          <a:xfrm>
            <a:off x="6017057" y="4160520"/>
            <a:ext cx="1078992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6017057" y="416052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objeto de gasto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8072933" y="3163824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228381" y="3300984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8228381" y="3300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8557565" y="3264408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POA institucional y POAU</a:t>
            </a:r>
            <a:endParaRPr lang="en-US" sz="1250" dirty="0"/>
          </a:p>
        </p:txBody>
      </p:sp>
      <p:sp>
        <p:nvSpPr>
          <p:cNvPr id="81" name="Text 78"/>
          <p:cNvSpPr/>
          <p:nvPr/>
        </p:nvSpPr>
        <p:spPr>
          <a:xfrm>
            <a:off x="8246669" y="3584448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Formulación del POA y del POA por unidad sobre una jerarquía única Operación → Actividad → Tarea, vinculada a la versión estratégica aprobada del SIS-PE.</a:t>
            </a:r>
            <a:endParaRPr lang="en-US" sz="950" dirty="0"/>
          </a:p>
        </p:txBody>
      </p:sp>
      <p:sp>
        <p:nvSpPr>
          <p:cNvPr id="82" name="Shape 79"/>
          <p:cNvSpPr/>
          <p:nvPr/>
        </p:nvSpPr>
        <p:spPr>
          <a:xfrm>
            <a:off x="8246669" y="4160520"/>
            <a:ext cx="1078992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246669" y="4160520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jerarquía única</a:t>
            </a:r>
            <a:endParaRPr lang="en-US" sz="750" dirty="0"/>
          </a:p>
        </p:txBody>
      </p:sp>
      <p:sp>
        <p:nvSpPr>
          <p:cNvPr id="84" name="Shape 81"/>
          <p:cNvSpPr/>
          <p:nvPr/>
        </p:nvSpPr>
        <p:spPr>
          <a:xfrm>
            <a:off x="9389669" y="4160520"/>
            <a:ext cx="1203350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9389669" y="4160520"/>
            <a:ext cx="12033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vínculo PEI → POA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457200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12648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12648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941832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físico-financiera</a:t>
            </a:r>
            <a:endParaRPr lang="en-US" sz="1250" dirty="0"/>
          </a:p>
        </p:txBody>
      </p:sp>
      <p:sp>
        <p:nvSpPr>
          <p:cNvPr id="90" name="Text 87"/>
          <p:cNvSpPr/>
          <p:nvPr/>
        </p:nvSpPr>
        <p:spPr>
          <a:xfrm>
            <a:off x="630936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Programación mensual de metas y montos con 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automática contra el techo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sistema impide asignar por encima de lo aprobado, en lugar de descubrirlo al consolidar.</a:t>
            </a:r>
            <a:endParaRPr lang="en-US" sz="950" dirty="0"/>
          </a:p>
        </p:txBody>
      </p:sp>
      <p:sp>
        <p:nvSpPr>
          <p:cNvPr id="91" name="Shape 88"/>
          <p:cNvSpPr/>
          <p:nvPr/>
        </p:nvSpPr>
        <p:spPr>
          <a:xfrm>
            <a:off x="630936" y="5550408"/>
            <a:ext cx="1141171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630936" y="5550408"/>
            <a:ext cx="114117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 de techo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1836115" y="5550408"/>
            <a:ext cx="1203350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1836115" y="5550408"/>
            <a:ext cx="12033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metas programadas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4265066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4420514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4420514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4749698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Modificaciones y reformas</a:t>
            </a:r>
            <a:endParaRPr lang="en-US" sz="1250" dirty="0"/>
          </a:p>
        </p:txBody>
      </p:sp>
      <p:sp>
        <p:nvSpPr>
          <p:cNvPr id="99" name="Text 96"/>
          <p:cNvSpPr/>
          <p:nvPr/>
        </p:nvSpPr>
        <p:spPr>
          <a:xfrm>
            <a:off x="4438802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Solicitud, evaluación de impacto y aprobación de reformulaciones del POA y reformas presupuestarias, con historial de movimientos. Nada se cambia sin registro.</a:t>
            </a:r>
            <a:endParaRPr lang="en-US" sz="950" dirty="0"/>
          </a:p>
        </p:txBody>
      </p:sp>
      <p:sp>
        <p:nvSpPr>
          <p:cNvPr id="100" name="Shape 97"/>
          <p:cNvSpPr/>
          <p:nvPr/>
        </p:nvSpPr>
        <p:spPr>
          <a:xfrm>
            <a:off x="4438802" y="5550408"/>
            <a:ext cx="2136038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4438802" y="5550408"/>
            <a:ext cx="213603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solicitud → impacto → aprobación</a:t>
            </a:r>
            <a:endParaRPr lang="en-US" sz="750" dirty="0"/>
          </a:p>
        </p:txBody>
      </p:sp>
      <p:sp>
        <p:nvSpPr>
          <p:cNvPr id="102" name="Shape 99"/>
          <p:cNvSpPr/>
          <p:nvPr/>
        </p:nvSpPr>
        <p:spPr>
          <a:xfrm>
            <a:off x="8072933" y="4553712"/>
            <a:ext cx="3661562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9525">
            <a:solidFill>
              <a:srgbClr val="DEE7E0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8228381" y="4690872"/>
            <a:ext cx="256032" cy="256032"/>
          </a:xfrm>
          <a:prstGeom prst="roundRect">
            <a:avLst>
              <a:gd name="adj" fmla="val 19643"/>
            </a:avLst>
          </a:prstGeom>
          <a:solidFill>
            <a:srgbClr val="0072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8228381" y="4690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105" name="Text 102"/>
          <p:cNvSpPr/>
          <p:nvPr/>
        </p:nvSpPr>
        <p:spPr>
          <a:xfrm>
            <a:off x="8557565" y="4654296"/>
            <a:ext cx="30214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30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Seguimiento, recursos e importación</a:t>
            </a:r>
            <a:endParaRPr lang="en-US" sz="1250" dirty="0"/>
          </a:p>
        </p:txBody>
      </p:sp>
      <p:sp>
        <p:nvSpPr>
          <p:cNvPr id="106" name="Text 103"/>
          <p:cNvSpPr/>
          <p:nvPr/>
        </p:nvSpPr>
        <p:spPr>
          <a:xfrm>
            <a:off x="8246669" y="4974336"/>
            <a:ext cx="331409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94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ejecución con alertas por umbral configurable, estimación de recursos propios (anual y plurianual) e importación de planillas presupuestarias y del SIGEP.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8246669" y="5550408"/>
            <a:ext cx="581558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8246669" y="5550408"/>
            <a:ext cx="58155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alertas</a:t>
            </a:r>
            <a:endParaRPr lang="en-US" sz="750" dirty="0"/>
          </a:p>
        </p:txBody>
      </p:sp>
      <p:sp>
        <p:nvSpPr>
          <p:cNvPr id="109" name="Shape 106"/>
          <p:cNvSpPr/>
          <p:nvPr/>
        </p:nvSpPr>
        <p:spPr>
          <a:xfrm>
            <a:off x="8892235" y="5550408"/>
            <a:ext cx="1141171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8892235" y="5550408"/>
            <a:ext cx="114117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recursos propios</a:t>
            </a:r>
            <a:endParaRPr lang="en-US" sz="750" dirty="0"/>
          </a:p>
        </p:txBody>
      </p:sp>
      <p:sp>
        <p:nvSpPr>
          <p:cNvPr id="111" name="Shape 108"/>
          <p:cNvSpPr/>
          <p:nvPr/>
        </p:nvSpPr>
        <p:spPr>
          <a:xfrm>
            <a:off x="10097414" y="5550408"/>
            <a:ext cx="1203350" cy="192024"/>
          </a:xfrm>
          <a:prstGeom prst="roundRect">
            <a:avLst>
              <a:gd name="adj" fmla="val 19048"/>
            </a:avLst>
          </a:prstGeom>
          <a:solidFill>
            <a:srgbClr val="E3F2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10097414" y="5550408"/>
            <a:ext cx="120335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34E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importación SIGEP</a:t>
            </a:r>
            <a:endParaRPr lang="en-US" sz="750" dirty="0"/>
          </a:p>
        </p:txBody>
      </p:sp>
      <p:sp>
        <p:nvSpPr>
          <p:cNvPr id="113" name="Shape 110"/>
          <p:cNvSpPr/>
          <p:nvPr/>
        </p:nvSpPr>
        <p:spPr>
          <a:xfrm>
            <a:off x="457200" y="5925312"/>
            <a:ext cx="11277295" cy="347472"/>
          </a:xfrm>
          <a:prstGeom prst="roundRect">
            <a:avLst>
              <a:gd name="adj" fmla="val 13158"/>
            </a:avLst>
          </a:prstGeom>
          <a:solidFill>
            <a:srgbClr val="F5EAD2"/>
          </a:solidFill>
          <a:ln w="9525">
            <a:solidFill>
              <a:srgbClr val="E8D6AE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57200" y="5961888"/>
            <a:ext cx="41148" cy="274320"/>
          </a:xfrm>
          <a:prstGeom prst="rect">
            <a:avLst/>
          </a:prstGeom>
          <a:solidFill>
            <a:srgbClr val="C99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58368" y="5925312"/>
            <a:ext cx="1087495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950" b="1" dirty="0">
                <a:solidFill>
                  <a:srgbClr val="6E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desarrollo:</a:t>
            </a:r>
            <a:pPr indent="0" marL="0">
              <a:buNone/>
            </a:pPr>
            <a:r>
              <a:rPr lang="en-US" sz="950" dirty="0">
                <a:solidFill>
                  <a:srgbClr val="6E5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asistentes por pasos para POA y POAU, tableros de ejecución para autoridades y cierre de la transición de los módulos antiguos de techos y presupuesto.</a:t>
            </a:r>
            <a:endParaRPr lang="en-US" sz="950" dirty="0"/>
          </a:p>
        </p:txBody>
      </p:sp>
      <p:sp>
        <p:nvSpPr>
          <p:cNvPr id="116" name="Text 113"/>
          <p:cNvSpPr/>
          <p:nvPr/>
        </p:nvSpPr>
        <p:spPr>
          <a:xfrm>
            <a:off x="45720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Autónomo Municipal de Sacaba · Plataforma Integral de Planificación (PIP-GAMS)</a:t>
            </a:r>
            <a:endParaRPr lang="en-US" sz="900" dirty="0"/>
          </a:p>
        </p:txBody>
      </p:sp>
      <p:sp>
        <p:nvSpPr>
          <p:cNvPr id="117" name="Text 114"/>
          <p:cNvSpPr/>
          <p:nvPr/>
        </p:nvSpPr>
        <p:spPr>
          <a:xfrm>
            <a:off x="8076895" y="63825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20" kern="0" dirty="0">
                <a:solidFill>
                  <a:srgbClr val="007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ORDEN CON RESULTADOS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Gobierno Autónomo Municipal de Sacaba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PIP-GAMS — SIS-PE y SIS-POA</dc:title>
  <dc:subject>PptxGenJS Presentation</dc:subject>
  <dc:creator>GAM Sacaba</dc:creator>
  <cp:lastModifiedBy>GAM Sacaba</cp:lastModifiedBy>
  <cp:revision>1</cp:revision>
  <dcterms:created xsi:type="dcterms:W3CDTF">2026-08-21T11:06:26Z</dcterms:created>
  <dcterms:modified xsi:type="dcterms:W3CDTF">2026-08-21T11:06:26Z</dcterms:modified>
</cp:coreProperties>
</file>